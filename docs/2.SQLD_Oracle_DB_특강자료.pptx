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10"/>
  </p:normalViewPr>
  <p:slideViewPr>
    <p:cSldViewPr snapToGrid="0" snapToObjects="1">
      <p:cViewPr>
        <p:scale>
          <a:sx n="78" d="100"/>
          <a:sy n="78" d="100"/>
        </p:scale>
        <p:origin x="744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02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502920"/>
            <a:ext cx="2377440" cy="2377440"/>
          </a:xfrm>
          <a:prstGeom prst="arc">
            <a:avLst/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69880" y="3154680"/>
            <a:ext cx="1097280" cy="1097280"/>
          </a:xfrm>
          <a:prstGeom prst="arc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13816" y="804672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특강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DB로 준비하는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실전 학습 전략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핵심 개념 · SQLD 출제영역 · 실습 중심 공부법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9560" y="4864608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172554"/>
          </a:solidFill>
          <a:ln w="1016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19288" y="4965192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SQL을 외우지 말고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결과를 예측한다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9808" y="6062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SQLD 준비자 대상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특강의 목표와 운영 기준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구조 설명보다 “문제 풀이가 되는 SQL 사고”를 만든다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44168" y="1508760"/>
            <a:ext cx="960120" cy="960120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44168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00044" y="2542032"/>
            <a:ext cx="244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구조를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관점으로 이해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67328" y="1508760"/>
            <a:ext cx="960120" cy="960120"/>
          </a:xfrm>
          <a:prstGeom prst="arc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67328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023204" y="2542032"/>
            <a:ext cx="244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빈출 영역을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우선순위화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90488" y="1508760"/>
            <a:ext cx="960120" cy="960120"/>
          </a:xfrm>
          <a:prstGeom prst="arc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90488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446364" y="2542032"/>
            <a:ext cx="244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실행하며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오답을 검증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13648" y="1508760"/>
            <a:ext cx="960120" cy="960120"/>
          </a:xfrm>
          <a:prstGeom prst="arc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13648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869524" y="2542032"/>
            <a:ext cx="244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4주 학습 루틴으로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276856" y="1993392"/>
            <a:ext cx="1143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6"/>
          <p:cNvSpPr/>
          <p:nvPr/>
        </p:nvSpPr>
        <p:spPr>
          <a:xfrm>
            <a:off x="4709160" y="1993392"/>
            <a:ext cx="1143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7123176" y="1993392"/>
            <a:ext cx="1143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960120" y="397764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69848" y="4078224"/>
            <a:ext cx="46268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설계 기준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Oracle 설명 20%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SQL 실행·결과 해석 80%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빈출 개념은 “작은 데이터셋”으로 반복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263640" y="397764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73368" y="4078224"/>
            <a:ext cx="4443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 산출물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나만의 오답 SQL 노트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NULL/JOIN/서브쿼리 결과 예측표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시험 직전 체크리스트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SQLD 실습에 Oracle을 쓰는가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SQLD는 특정 DB 운영 시험이 아니라, 관계형 DB와 SQL 활용 역량을 평가한다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50798" y="151790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DBMS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테이블·키·관계·정규화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016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84448" y="1517904"/>
            <a:ext cx="2340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SQL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NULL·함수·계층형 질의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10528" y="1517904"/>
            <a:ext cx="2340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문제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 판별 중심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326880" y="14173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436608" y="1517904"/>
            <a:ext cx="1929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확장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분석·개발 공통 기반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3127248" y="1901952"/>
            <a:ext cx="29260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80760" y="1901952"/>
            <a:ext cx="29260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006840" y="1901952"/>
            <a:ext cx="29260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68680" y="30632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14984" y="3191256"/>
            <a:ext cx="39136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deptno, COUNT(*)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comm IS NOT NULL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deptno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2;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52120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환경에서 기본 SQL을 직접 실행한다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DBA 기능보다 SELECT 결과 예측 능력에 집중한다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시험에는 최신 AI/Vector 기능보다 전통 SQL이 중요하다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시험 구조: 2과목이 합격을 좌우한다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안내 기준: 총 50문항, 90분, 100점 만점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696676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10문항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22581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40문항</a:t>
            </a:r>
            <a:endParaRPr lang="en-US" sz="26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C60032-C0D5-5476-EF43-10233544ED7F}"/>
              </a:ext>
            </a:extLst>
          </p:cNvPr>
          <p:cNvGrpSpPr/>
          <p:nvPr/>
        </p:nvGrpSpPr>
        <p:grpSpPr>
          <a:xfrm>
            <a:off x="960119" y="2148840"/>
            <a:ext cx="10104121" cy="868680"/>
            <a:chOff x="960119" y="2148840"/>
            <a:chExt cx="9692641" cy="868680"/>
          </a:xfrm>
        </p:grpSpPr>
        <p:sp>
          <p:nvSpPr>
            <p:cNvPr id="6" name="Shape 4"/>
            <p:cNvSpPr/>
            <p:nvPr/>
          </p:nvSpPr>
          <p:spPr>
            <a:xfrm>
              <a:off x="960119" y="2148840"/>
              <a:ext cx="2728867" cy="86868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93C5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051560" y="2409444"/>
              <a:ext cx="261021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데이터 모델링의 이해</a:t>
              </a:r>
              <a:endParaRPr lang="en-US" sz="1650" dirty="0"/>
            </a:p>
            <a:p>
              <a:pPr marL="0" indent="0" algn="ctr"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20점</a:t>
              </a:r>
              <a:endParaRPr lang="en-US" sz="16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045597" y="2148840"/>
              <a:ext cx="6607163" cy="868680"/>
            </a:xfrm>
            <a:prstGeom prst="rect">
              <a:avLst/>
            </a:prstGeom>
            <a:solidFill>
              <a:srgbClr val="CCFBF1"/>
            </a:solidFill>
            <a:ln w="1270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715000" y="2491741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SQL 기본 및 활용</a:t>
              </a:r>
              <a:endParaRPr lang="en-US" sz="1650" dirty="0"/>
            </a:p>
            <a:p>
              <a:pPr marL="0" indent="0" algn="ctr"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80점</a:t>
              </a:r>
              <a:endParaRPr lang="en-US" sz="165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960120" y="393192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69848" y="4032504"/>
            <a:ext cx="27066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합격 기준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총점 60점 이상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과목별 40% 미만 과락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434840" y="393192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44568" y="4032504"/>
            <a:ext cx="2889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배분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 개념은 과락 방지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 기본·활용은 득점 핵심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092440" y="393192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02168" y="4032504"/>
            <a:ext cx="2752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특강 방향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문법 암기보다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 예측 훈련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52360" y="64465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KDATA 데이터자격검정 안내 및 SQLD 출제기준 요약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84048"/>
            <a:ext cx="11264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기본 구조: CDB → PDB → User/Schema →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실습자는 “어디에 접속해서 어떤 스키마로 실행하는가”를 먼저 알아야 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CDB: 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PDB: MOVIE_DB 또는 FREEPDB1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920240" y="306324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48840" y="3364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USER/SCHEMA: JOY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806440" y="306324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53328" y="3310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TABLE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EMP · DEPT · ORDERS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2080" y="3611880"/>
            <a:ext cx="5303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BFA7CDC-E479-40F1-2AEB-01D55624338D}"/>
              </a:ext>
            </a:extLst>
          </p:cNvPr>
          <p:cNvGrpSpPr/>
          <p:nvPr/>
        </p:nvGrpSpPr>
        <p:grpSpPr>
          <a:xfrm>
            <a:off x="1051560" y="4873753"/>
            <a:ext cx="9784080" cy="1069847"/>
            <a:chOff x="1051560" y="5257800"/>
            <a:chExt cx="9784080" cy="685800"/>
          </a:xfrm>
        </p:grpSpPr>
        <p:sp>
          <p:nvSpPr>
            <p:cNvPr id="12" name="Shape 10"/>
            <p:cNvSpPr/>
            <p:nvPr/>
          </p:nvSpPr>
          <p:spPr>
            <a:xfrm>
              <a:off x="1051560" y="5257800"/>
              <a:ext cx="9784080" cy="685800"/>
            </a:xfrm>
            <a:prstGeom prst="roundRect">
              <a:avLst>
                <a:gd name="adj" fmla="val 16000"/>
              </a:avLst>
            </a:prstGeom>
            <a:solidFill>
              <a:srgbClr val="0B1220"/>
            </a:solidFill>
            <a:ln w="10160">
              <a:solidFill>
                <a:srgbClr val="0B122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161288" y="5358384"/>
              <a:ext cx="9564624" cy="4846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확인 SQL</a:t>
              </a:r>
              <a:endParaRPr lang="en-US" sz="1450" dirty="0"/>
            </a:p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SELECT SYS_CONTEXT('USERENV', 'CON_NAME') FROM dual;</a:t>
              </a:r>
              <a:endParaRPr lang="en-US" sz="1450" dirty="0"/>
            </a:p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SELECT banner_full FROM v$version;</a:t>
              </a:r>
              <a:endParaRPr lang="en-US" sz="145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관점의 Oracle 특징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관리자 기능보다 시험 문제로 연결되는 SQL 특성을 선별한다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9536" y="1517904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 처리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NVL · NVL2 · NULLIF · COALESCE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6236208" y="1417320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345936" y="1517904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함수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 · SYSDATE · 날짜/문자 함수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59536" y="2724912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계층형 질의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 WITH · CONNECT BY · PRIOR · LEVEL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45936" y="2724912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함수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ROW_NUMBER · RANK · DENSE_RANK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749808" y="3831336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59536" y="3931920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 · ROLLBACK · SAVEPOINT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6236208" y="3831336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45936" y="3931920"/>
            <a:ext cx="4764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객체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TABLE · VIEW · INDEX · SEQUENCE</a:t>
            </a:r>
            <a:endParaRPr lang="en-US" sz="1720" dirty="0"/>
          </a:p>
        </p:txBody>
      </p:sp>
      <p:sp>
        <p:nvSpPr>
          <p:cNvPr id="17" name="Shape 15"/>
          <p:cNvSpPr/>
          <p:nvPr/>
        </p:nvSpPr>
        <p:spPr>
          <a:xfrm>
            <a:off x="822960" y="537667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5650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Oracle 26ai Free로 실습하더라도 SQLD 대비는 19c 수준의 전통 SQL 범위로 제한하는 것이 효율적이다.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공부법 핵심: 문제 → 실행 → 오답 SQL 노트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문제집 해설을 읽는 것보다 “왜 그 결과가 나오는지”를 재현한다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875520" y="2834640"/>
            <a:ext cx="0" cy="1298448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697480" y="2286000"/>
            <a:ext cx="26060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0" y="2286000"/>
            <a:ext cx="25146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E2431A-CB66-D2A7-A13C-F8E23EF66B0A}"/>
              </a:ext>
            </a:extLst>
          </p:cNvPr>
          <p:cNvGrpSpPr/>
          <p:nvPr/>
        </p:nvGrpSpPr>
        <p:grpSpPr>
          <a:xfrm>
            <a:off x="1143000" y="1645920"/>
            <a:ext cx="2180968" cy="1234440"/>
            <a:chOff x="1143000" y="1645920"/>
            <a:chExt cx="1783080" cy="1234440"/>
          </a:xfrm>
        </p:grpSpPr>
        <p:sp>
          <p:nvSpPr>
            <p:cNvPr id="9" name="Shape 7"/>
            <p:cNvSpPr/>
            <p:nvPr/>
          </p:nvSpPr>
          <p:spPr>
            <a:xfrm>
              <a:off x="1143000" y="1645920"/>
              <a:ext cx="1783080" cy="1234440"/>
            </a:xfrm>
            <a:prstGeom prst="roundRect">
              <a:avLst>
                <a:gd name="adj" fmla="val 8889"/>
              </a:avLst>
            </a:prstGeom>
            <a:solidFill>
              <a:srgbClr val="DBEAFE"/>
            </a:solidFill>
            <a:ln w="10160">
              <a:solidFill>
                <a:srgbClr val="93C5FD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252728" y="1746504"/>
              <a:ext cx="1563624" cy="1033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1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문제를 읽고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결과를 먼저 예측</a:t>
              </a:r>
              <a:endParaRPr lang="en-US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643F721-25A1-3635-D909-C4DE7866A6FC}"/>
              </a:ext>
            </a:extLst>
          </p:cNvPr>
          <p:cNvGrpSpPr/>
          <p:nvPr/>
        </p:nvGrpSpPr>
        <p:grpSpPr>
          <a:xfrm>
            <a:off x="4892040" y="1645920"/>
            <a:ext cx="2423160" cy="1234440"/>
            <a:chOff x="5212080" y="1645920"/>
            <a:chExt cx="1783080" cy="1234440"/>
          </a:xfrm>
        </p:grpSpPr>
        <p:sp>
          <p:nvSpPr>
            <p:cNvPr id="11" name="Shape 9"/>
            <p:cNvSpPr/>
            <p:nvPr/>
          </p:nvSpPr>
          <p:spPr>
            <a:xfrm>
              <a:off x="5212080" y="1645920"/>
              <a:ext cx="1783080" cy="1234440"/>
            </a:xfrm>
            <a:prstGeom prst="roundRect">
              <a:avLst>
                <a:gd name="adj" fmla="val 8889"/>
              </a:avLst>
            </a:prstGeom>
            <a:solidFill>
              <a:srgbClr val="CCFBF1"/>
            </a:solidFill>
            <a:ln w="1016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321808" y="1746504"/>
              <a:ext cx="1563624" cy="1033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2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Oracle에서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직접 실행</a:t>
              </a:r>
              <a:endParaRPr 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0BB5336-41B0-5671-2385-69F17F52BAF9}"/>
              </a:ext>
            </a:extLst>
          </p:cNvPr>
          <p:cNvGrpSpPr/>
          <p:nvPr/>
        </p:nvGrpSpPr>
        <p:grpSpPr>
          <a:xfrm>
            <a:off x="8938613" y="1645920"/>
            <a:ext cx="2285294" cy="1234440"/>
            <a:chOff x="9189720" y="1645920"/>
            <a:chExt cx="1783080" cy="1234440"/>
          </a:xfrm>
        </p:grpSpPr>
        <p:sp>
          <p:nvSpPr>
            <p:cNvPr id="13" name="Shape 11"/>
            <p:cNvSpPr/>
            <p:nvPr/>
          </p:nvSpPr>
          <p:spPr>
            <a:xfrm>
              <a:off x="9189720" y="1645920"/>
              <a:ext cx="1783080" cy="1234440"/>
            </a:xfrm>
            <a:prstGeom prst="roundRect">
              <a:avLst>
                <a:gd name="adj" fmla="val 8889"/>
              </a:avLst>
            </a:prstGeom>
            <a:solidFill>
              <a:srgbClr val="FEF3C7"/>
            </a:solidFill>
            <a:ln w="10160">
              <a:solidFill>
                <a:srgbClr val="FCD34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9299448" y="1746504"/>
              <a:ext cx="1563624" cy="1033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3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예상과 결과의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차이를 기록</a:t>
              </a:r>
              <a:endParaRPr lang="en-US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376812-612B-459F-9175-D46DB8316469}"/>
              </a:ext>
            </a:extLst>
          </p:cNvPr>
          <p:cNvGrpSpPr/>
          <p:nvPr/>
        </p:nvGrpSpPr>
        <p:grpSpPr>
          <a:xfrm>
            <a:off x="5137569" y="4169664"/>
            <a:ext cx="2231136" cy="1234440"/>
            <a:chOff x="5212080" y="4069080"/>
            <a:chExt cx="1783080" cy="1234440"/>
          </a:xfrm>
        </p:grpSpPr>
        <p:sp>
          <p:nvSpPr>
            <p:cNvPr id="8" name="Shape 6"/>
            <p:cNvSpPr/>
            <p:nvPr/>
          </p:nvSpPr>
          <p:spPr>
            <a:xfrm>
              <a:off x="5303520" y="4572000"/>
              <a:ext cx="0" cy="0"/>
            </a:xfrm>
            <a:prstGeom prst="line">
              <a:avLst/>
            </a:prstGeom>
            <a:noFill/>
            <a:ln w="17780">
              <a:solidFill>
                <a:srgbClr val="CBD5E1"/>
              </a:solidFill>
              <a:prstDash val="solid"/>
              <a:tailEnd type="triangle"/>
            </a:ln>
          </p:spPr>
          <p:txBody>
            <a:bodyPr/>
            <a:lstStyle/>
            <a:p>
              <a:pPr algn="ctr"/>
              <a:endParaRPr lang="ko-KR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5212080" y="4069080"/>
              <a:ext cx="1783080" cy="1234440"/>
            </a:xfrm>
            <a:prstGeom prst="roundRect">
              <a:avLst>
                <a:gd name="adj" fmla="val 8889"/>
              </a:avLst>
            </a:prstGeom>
            <a:solidFill>
              <a:srgbClr val="EDE9FE"/>
            </a:solidFill>
            <a:ln w="10160">
              <a:solidFill>
                <a:srgbClr val="C4B5FD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321808" y="4169664"/>
              <a:ext cx="1563624" cy="1033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오답 SQL을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F172A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변형해서 재실행</a:t>
              </a:r>
              <a:endParaRPr 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11A7172-62B9-8909-2AC7-D7A3EC43C9F2}"/>
              </a:ext>
            </a:extLst>
          </p:cNvPr>
          <p:cNvGrpSpPr/>
          <p:nvPr/>
        </p:nvGrpSpPr>
        <p:grpSpPr>
          <a:xfrm>
            <a:off x="766594" y="4133088"/>
            <a:ext cx="3840480" cy="1344167"/>
            <a:chOff x="868680" y="5166360"/>
            <a:chExt cx="3840480" cy="914400"/>
          </a:xfrm>
        </p:grpSpPr>
        <p:sp>
          <p:nvSpPr>
            <p:cNvPr id="17" name="Shape 15"/>
            <p:cNvSpPr/>
            <p:nvPr/>
          </p:nvSpPr>
          <p:spPr>
            <a:xfrm>
              <a:off x="868680" y="5166360"/>
              <a:ext cx="3840480" cy="914400"/>
            </a:xfrm>
            <a:prstGeom prst="roundRect">
              <a:avLst>
                <a:gd name="adj" fmla="val 8000"/>
              </a:avLst>
            </a:prstGeom>
            <a:solidFill>
              <a:srgbClr val="0B1220"/>
            </a:solidFill>
            <a:ln w="12700">
              <a:solidFill>
                <a:srgbClr val="0B122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1014984" y="5294376"/>
              <a:ext cx="35478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 오답 노트 예시</a:t>
              </a:r>
              <a:endParaRPr lang="en-US" sz="1450" dirty="0"/>
            </a:p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COUNT(*)와 COUNT(col)의 차이</a:t>
              </a:r>
              <a:endParaRPr lang="en-US" sz="1450" dirty="0"/>
            </a:p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Outer Join에서 WHERE 조건 위치 차이</a:t>
              </a:r>
              <a:endParaRPr lang="en-US" sz="1450" dirty="0"/>
            </a:p>
            <a:p>
              <a:pPr marL="0" indent="0">
                <a:buNone/>
              </a:pPr>
              <a:r>
                <a:rPr lang="en-US" sz="145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RANK와 DENSE_RANK의 순위 차이</a:t>
              </a:r>
              <a:endParaRPr lang="en-US" sz="145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7673546" y="4160520"/>
            <a:ext cx="426307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암기보다 결과 재현이 우선이다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틀린 문제는 같은 개념으로 2개 이상 변형한다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직전에는 오답 SQL만 다시 실행한다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실습 우선순위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특강에서는 고득점과 오답 빈도가 높은 주제에 시간을 집중한다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828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896112" y="15764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JOIN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71800" y="151790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매우 높음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1517904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ON/WHERE, OUTER JOIN, SELF JOIN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77240" y="2020824"/>
            <a:ext cx="1828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/>
          <p:nvPr/>
        </p:nvSpPr>
        <p:spPr>
          <a:xfrm>
            <a:off x="896112" y="217998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71800" y="21214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매우 높음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비교·연산·집계·NULL 함수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77240" y="2624328"/>
            <a:ext cx="1828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896112" y="278348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GROUP BY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71800" y="27249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0" y="27249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 vs HAVING, 집계 함수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77240" y="3227832"/>
            <a:ext cx="1828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896112" y="338698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서브쿼리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71800" y="33284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0" y="3328416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IN/ANY/ALL/EXISTS, 상관 서브쿼리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77240" y="3831336"/>
            <a:ext cx="1828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896112" y="39904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윈도우 함수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71800" y="393192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0" y="3931920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ROW_NUMBER/RANK/DENSE_RANK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1828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/>
          <p:nvPr/>
        </p:nvSpPr>
        <p:spPr>
          <a:xfrm>
            <a:off x="896112" y="45939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계층형 질의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71800" y="453542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중간~높음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0" y="4535424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 WITH, CONNECT BY, PRIOR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77240" y="5038344"/>
            <a:ext cx="1828800" cy="411480"/>
          </a:xfrm>
          <a:prstGeom prst="rect">
            <a:avLst/>
          </a:prstGeom>
          <a:solidFill>
            <a:srgbClr val="0F766E">
              <a:alpha val="95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896112" y="519750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971800" y="513892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과락 방지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0" y="5138928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정규화, 식별자, 관계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77240" y="5961888"/>
            <a:ext cx="10561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05840" y="6181344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시간 배분: SQL 기본·활용 70%, 모델링 20%, 시험 전략·오답 정리 10%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빈출 개념 ① NULL: 0도, 공백도, 문자열도 아니다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NULL은 “알 수 없음”이며 비교·연산·집계에서 예외를 만든다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30352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32688" y="1517904"/>
            <a:ext cx="50840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오답 포인트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 col = NULL 은 참/거짓이 아니라 UNKNOWN이다.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 비교는 IS NULL / IS NOT NULL을 사용한다.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92824" y="1545336"/>
            <a:ext cx="418795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  FROM emp;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COUNT(comm) FROM emp;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100 + NULL FROM dual;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comm IS NULL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반드시 확인할 함수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4128" y="3803904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NVL(expr, 대체값)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3657600" y="370332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67328" y="3803904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NVL2(expr, not_null, null)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6400800" y="370332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0528" y="3803904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NULLIF(a, b)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9144000" y="370332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253728" y="3803904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COALESCE(a, b, c)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914400" y="4892040"/>
            <a:ext cx="9966960" cy="82296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24128" y="4992624"/>
            <a:ext cx="9747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강의 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학생에게 먼저 결과를 말하게 한 뒤, Oracle에서 실행해 확인한다.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COUNT(*)와 COUNT(컬럼)의 차이는 반드시 표 데이터로 보여준다.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빈출 개념 ② JOIN: 조건의 위치가 결과를 바꾼다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특히 OUTER JOIN에서는 ON과 WHERE 조건의 의미 차이를 직접 보여줘야 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23544" y="1499616"/>
            <a:ext cx="49651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A: ON에 조건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e LEFT JOIN dept 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e.deptno = d.deptno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d.loc = 'SEOUL';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9944" y="1499616"/>
            <a:ext cx="49651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B: WHERE에 조건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e LEFT JOIN dept 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e.deptno = d.deptno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d.loc = 'SEOUL';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83280" y="3310128"/>
            <a:ext cx="0" cy="5029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869680" y="3310128"/>
            <a:ext cx="0" cy="5029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93192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69848" y="403250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A는 왼쪽 테이블 행을 보존한다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매칭되지 않는 부서는 NULL로 남을 수 있다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446520" y="393192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56248" y="403250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B는 WHERE에서 NULL 행이 제거될 수 있다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LEFT JOIN이 INNER JOIN처럼 보일 수 있다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14400" y="5596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질문: 두 SQL의 결과 행 수는 항상 같은가?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빈출 개념 ③ GROUP BY와 논리적 실행 순서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순서와 처리 순서를 구분하면 HAVING·별칭 문제를 줄일 수 있다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FROM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테이블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1460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2432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필터링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023360" y="201168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9884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GROUP BY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 생성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897880" y="201168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7336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HAVING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 필터링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0" y="201168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4788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SELECT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컬럼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46920" y="201168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012680" y="1645920"/>
            <a:ext cx="150876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122408" y="1746504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BY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68680" y="3108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14984" y="3236976"/>
            <a:ext cx="482803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deptno, AVG(sal) AS avg_sal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 &gt;= 1000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deptno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AVG(sal) &gt;= 3000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avg_sal DESC;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6446520" y="3127248"/>
            <a:ext cx="47548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8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WHERE는 그룹화 이전의 행 조건이다</a:t>
            </a:r>
            <a:endParaRPr lang="en-US" sz="1850" dirty="0"/>
          </a:p>
          <a:p>
            <a:r>
              <a:rPr lang="en-US" sz="18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HAVING은 그룹화 이후의 집계 조건이다</a:t>
            </a:r>
            <a:endParaRPr lang="en-US" sz="1850" dirty="0"/>
          </a:p>
          <a:p>
            <a:r>
              <a:rPr lang="en-US" sz="18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COUNT(*), COUNT(col), AVG(col)의 NULL 처리 차이를 확인한다</a:t>
            </a:r>
            <a:endParaRPr lang="en-US" sz="1850" dirty="0"/>
          </a:p>
          <a:p>
            <a:r>
              <a:rPr lang="en-US" sz="18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BY에서는 SELECT 별칭 사용 가능성을 확인한다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빈출 개념 ④ 서브쿼리·집합·윈도우 함수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문법보다 “결과 집합의 형태”를 먼저 판단한다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017520" cy="142240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86968" y="1426464"/>
            <a:ext cx="279806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서브쿼리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단일행: =, &gt;, &lt;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다중행: IN, ANY, ALL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상관: EXISTS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017520" cy="142240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44568" y="1426464"/>
            <a:ext cx="279806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집합 연산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UNION: 중복 제거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UNION ALL: 중복 유지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INTERSECT / MINUS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92440" y="1325880"/>
            <a:ext cx="3017520" cy="142240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02168" y="1426464"/>
            <a:ext cx="279806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윈도우 함수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ROW_NUMBER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RANK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DENSE_RANK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PARTITION BY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14984" y="3282696"/>
            <a:ext cx="50566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ename, sal,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RANK() OVER(ORDER BY sal DESC) AS rnk,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DENSE_RANK() OVER(ORDER BY sal DESC) AS drnk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3090672"/>
            <a:ext cx="1051560" cy="2926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65976" y="3163824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3090672"/>
            <a:ext cx="1051560" cy="2926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17536" y="3163824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ROW_NUMBER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32520" y="3090672"/>
            <a:ext cx="1051560" cy="2926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9096" y="3163824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RANK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84080" y="3090672"/>
            <a:ext cx="1051560" cy="29260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20656" y="3163824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DENSE_RANK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3383280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65976" y="3456432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680960" y="3383280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17536" y="3456432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732520" y="3383280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769096" y="3456432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9784080" y="3383280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820656" y="3456432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629400" y="367588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665976" y="3749040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680960" y="367588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17536" y="3749040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732520" y="367588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769096" y="3749040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9784080" y="367588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820656" y="3749040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629400" y="396849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65976" y="4041648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7680960" y="396849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717536" y="4041648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8732520" y="396849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769096" y="4041648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9784080" y="396849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820656" y="4041648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6629400" y="426110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665976" y="4334256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7680960" y="426110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717536" y="4334256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8732520" y="426110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8769096" y="4334256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9784080" y="426110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9820656" y="4334256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914400" y="5212080"/>
            <a:ext cx="9966960" cy="594360"/>
          </a:xfrm>
          <a:prstGeom prst="roundRect">
            <a:avLst>
              <a:gd name="adj" fmla="val 18462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024128" y="5312664"/>
            <a:ext cx="9747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강의 팁: 동일 순위가 있을 때 RANK는 번호를 건너뛰고, DENSE_RANK는 건너뛰지 않는다는 점을 표로 고정한다.</a:t>
            </a:r>
            <a:endParaRPr lang="en-US" sz="1720" dirty="0"/>
          </a:p>
        </p:txBody>
      </p:sp>
      <p:sp>
        <p:nvSpPr>
          <p:cNvPr id="55" name="Text 53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특화 영역: 계층형 질의와 전용 함수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SQLD에서는 Oracle 문법의 결과 방향성을 묻는 문제가 나올 수 있다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77824" y="1545336"/>
            <a:ext cx="45079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empno, ename, mgr, LEVEL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mgr IS NULL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BY PRIOR empno = mgr;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27848" y="1700784"/>
            <a:ext cx="877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CEO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LEVEL 1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2834640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64808" y="2935224"/>
            <a:ext cx="923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MGR A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LEVEL 2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235440" y="2834640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45168" y="2935224"/>
            <a:ext cx="923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MGR B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LEVEL 2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0" y="3977640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596128" y="4078224"/>
            <a:ext cx="923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STAFF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LEVEL 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995160" y="3977640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04888" y="4078224"/>
            <a:ext cx="923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STAFF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LEVEL 3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379476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78408" y="3895344"/>
            <a:ext cx="4261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체크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 · CASE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NVL · COALESCE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SYSDATE · ADD_MONTHS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800" y="5074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PRIOR의 위치가 탐색 방향을 결정한다.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4주 준비 로드맵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초보자는 넓게 훑기보다 빈출 개념을 반복 실행하는 방식이 안정적이다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1746504"/>
            <a:ext cx="21122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1주차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DB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모델링·SELECT·함수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 요약 + 기본 SQL 30개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1528" y="3291840"/>
            <a:ext cx="4754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11880" y="164592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21608" y="1746504"/>
            <a:ext cx="21122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2주차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JOIN·GROUP BY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 집중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 예측표 작성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61888" y="3291840"/>
            <a:ext cx="4754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01968" y="1746504"/>
            <a:ext cx="21122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3주차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서브쿼리·집합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윈도우·계층형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오답 SQL 변형 훈련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842248" y="3291840"/>
            <a:ext cx="4754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72600" y="164592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82328" y="1746504"/>
            <a:ext cx="21122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4주차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모의고사·오답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관리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오답 노트만 재실행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14400" y="5532120"/>
            <a:ext cx="10012680" cy="594360"/>
          </a:xfrm>
          <a:prstGeom prst="roundRect">
            <a:avLst>
              <a:gd name="adj" fmla="val 18462"/>
            </a:avLst>
          </a:prstGeom>
          <a:solidFill>
            <a:srgbClr val="FEFCE8"/>
          </a:solidFill>
          <a:ln w="1016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24128" y="5632704"/>
            <a:ext cx="9793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직전 체크</a:t>
            </a:r>
            <a:endParaRPr lang="en-US" sz="1720" dirty="0"/>
          </a:p>
          <a:p>
            <a:pPr marL="0" indent="0">
              <a:buNone/>
            </a:pPr>
            <a:r>
              <a:rPr lang="en-US" sz="17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NULL/JOIN/윈도우 함수 오답만 재실행  ② 모델링 용어 1회독  ③ 모의고사 시간 70분 내 풀이 연습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강사가 학생에게 남길 피드백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합격은 “많이 본 사람”보다 “틀린 이유를 SQL로 검증한 사람”이 유리하다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78408" y="151790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피드백 1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SQL은 암기가 아니라 데이터 흐름을 읽는 기술이다.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64808" y="151790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피드백 2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관리자 기능보다 SELECT 결과 예측에 집중한다.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78408" y="284378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피드백 3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틀린 문제는 해설을 외우지 말고 테이블을 만들어 실행한다.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355080" y="274320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64808" y="2843784"/>
            <a:ext cx="4581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피드백 4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모델링은 과락 방지, SQL 기본·활용은 합격 결정 영역이다.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68680" y="4572000"/>
            <a:ext cx="10287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4754880"/>
            <a:ext cx="992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메시지: SQLD는 “SQL을 머릿속에서 실행할 수 있는가”를 묻는 시험이다.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출처 및 활용 메모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특강 자료에는 공식 출제 구조와 실습 중심 피드백을 함께 반영했다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02870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KDATA 데이터자격검정: SQLD 검정과목, 문항 수, 합격 기준 확인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검정과목 변경 안내: 2024년부터 적용된 과목 체계 확인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Database Free 공식 문서: 무료 실습 환경 및 CDB/PDB 구조 확인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수험 후기·학습자료: JOIN, NULL, 윈도우 함수, 계층형 질의 등 실행 결과 판별형 대비 필요성 참고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1014984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60704" y="3922776"/>
            <a:ext cx="98572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권장 실습 환경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+ WSL2 Ubuntu + Docker + Oracle Database Free + DBeaver</a:t>
            </a:r>
            <a:endParaRPr lang="en-US" sz="1720" dirty="0"/>
          </a:p>
          <a:p>
            <a:pPr marL="0" indent="0">
              <a:buNone/>
            </a:pP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권장 학습 기준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19c 수준의 전통 SQL 문법을 26ai Free에서 실습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914400" y="55595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시험 세부 출제기준과 일정은 특강 직전 KDATA 데이터자격검정 홈페이지에서 재확인하는 것이 안전하다.</a:t>
            </a:r>
            <a:endParaRPr lang="en-US" sz="173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SQLD 대비 Oracle DB 특강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5B117E-7A39-47AF-82B7-39C5C8FDB686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132da6e7-1b83-40d9-a49a-7a15008506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1645</Words>
  <Application>Microsoft Office PowerPoint</Application>
  <PresentationFormat>와이드스크린</PresentationFormat>
  <Paragraphs>352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Noto Sans CJK KR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SQLD 대비 Oracle DB 특강</dc:title>
  <dc:subject>SQLD Oracle DB 특강</dc:subject>
  <dc:creator>OpenAI</dc:creator>
  <cp:lastModifiedBy>Admin</cp:lastModifiedBy>
  <cp:revision>3</cp:revision>
  <dcterms:created xsi:type="dcterms:W3CDTF">2026-08-28T03:09:05Z</dcterms:created>
  <dcterms:modified xsi:type="dcterms:W3CDTF">2026-08-28T03:24:09Z</dcterms:modified>
</cp:coreProperties>
</file>